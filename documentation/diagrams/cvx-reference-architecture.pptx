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228600"/>
            <a:ext cx="117348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Helvetica"/>
              </a:rPr>
              <a:t>CVX Agentic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750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545B64"/>
                </a:solidFill>
                <a:latin typeface="Helvetica"/>
              </a:rPr>
              <a:t>How a connected-vehicle owner's voice, chat, or app request reaches the AI and gets answered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50000"/>
            <a:ext cx="11734800" cy="2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47932" y="1140000"/>
            <a:ext cx="6275796" cy="5568000"/>
          </a:xfrm>
          <a:prstGeom prst="roundRect">
            <a:avLst/>
          </a:prstGeom>
          <a:noFill/>
          <a:ln w="25400">
            <a:solidFill>
              <a:srgbClr val="232F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tIns="80000" wrap="square"/>
          <a:lstStyle/>
          <a:p>
            <a:pPr algn="l"/>
            <a:r>
              <a:rPr sz="1100" b="1">
                <a:solidFill>
                  <a:srgbClr val="232F3E"/>
                </a:solidFill>
                <a:latin typeface="Helvetica"/>
              </a:rPr>
              <a:t>CVX account / region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217626" y="2319660"/>
            <a:ext cx="821757" cy="544413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217626" y="3102955"/>
            <a:ext cx="707797" cy="26542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35389" y="2119679"/>
            <a:ext cx="471865" cy="140436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435389" y="2709509"/>
            <a:ext cx="471865" cy="140437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62237" y="2909490"/>
            <a:ext cx="0" cy="353899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17220" y="3782439"/>
            <a:ext cx="377491" cy="0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503690" y="4301490"/>
            <a:ext cx="75498" cy="471865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503690" y="4301490"/>
            <a:ext cx="75498" cy="471865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391147" y="4301490"/>
            <a:ext cx="75498" cy="471865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62237" y="2909490"/>
            <a:ext cx="0" cy="353899"/>
          </a:xfrm>
          <a:prstGeom prst="line">
            <a:avLst/>
          </a:prstGeom>
          <a:ln w="25400">
            <a:solidFill>
              <a:srgbClr val="2488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5435389" y="2119679"/>
            <a:ext cx="471865" cy="140436"/>
          </a:xfrm>
          <a:prstGeom prst="line">
            <a:avLst/>
          </a:prstGeom>
          <a:ln w="25400">
            <a:solidFill>
              <a:srgbClr val="2488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435389" y="2709509"/>
            <a:ext cx="471865" cy="140437"/>
          </a:xfrm>
          <a:prstGeom prst="line">
            <a:avLst/>
          </a:prstGeom>
          <a:ln w="25400">
            <a:solidFill>
              <a:srgbClr val="2488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17626" y="2319660"/>
            <a:ext cx="821757" cy="544413"/>
          </a:xfrm>
          <a:prstGeom prst="line">
            <a:avLst/>
          </a:prstGeom>
          <a:ln w="25400">
            <a:solidFill>
              <a:srgbClr val="2488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217626" y="3102955"/>
            <a:ext cx="707797" cy="26542"/>
          </a:xfrm>
          <a:prstGeom prst="line">
            <a:avLst/>
          </a:prstGeom>
          <a:ln w="25400">
            <a:solidFill>
              <a:srgbClr val="2488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368271" y="2838711"/>
            <a:ext cx="849355" cy="613423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85599" y="3058711"/>
            <a:ext cx="214698" cy="21469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68271" y="3092134"/>
            <a:ext cx="849355" cy="3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Helvetica"/>
              </a:rPr>
              <a:t>Customer (A)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25423" y="1470305"/>
            <a:ext cx="1509966" cy="849355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423" y="1610305"/>
            <a:ext cx="467145" cy="46714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42568" y="1610305"/>
            <a:ext cx="672821" cy="467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344C"/>
                </a:solidFill>
                <a:latin typeface="Helvetica"/>
              </a:rPr>
              <a:t>Amazon Connect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25423" y="2649966"/>
            <a:ext cx="1509966" cy="849355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423" y="2789966"/>
            <a:ext cx="467145" cy="46714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42568" y="2789966"/>
            <a:ext cx="672821" cy="467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157B"/>
                </a:solidFill>
                <a:latin typeface="Helvetica"/>
              </a:rPr>
              <a:t>Amazon API Gateway (+ Cognito)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07254" y="2060135"/>
            <a:ext cx="1509966" cy="849355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254" y="2200135"/>
            <a:ext cx="467145" cy="46714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24399" y="2200135"/>
            <a:ext cx="672821" cy="467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D7100"/>
                </a:solidFill>
                <a:latin typeface="Helvetica"/>
              </a:rPr>
              <a:t>Supervisor Lambda (proxy)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07254" y="3263389"/>
            <a:ext cx="1509966" cy="1038101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1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254" y="3403389"/>
            <a:ext cx="528488" cy="52848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85742" y="3403389"/>
            <a:ext cx="611478" cy="528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1A88D"/>
                </a:solidFill>
                <a:latin typeface="Helvetica"/>
              </a:rPr>
              <a:t>Bedrock AgentCore Runtime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94711" y="3263389"/>
            <a:ext cx="1509966" cy="1038101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711" y="3403389"/>
            <a:ext cx="528488" cy="5284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73199" y="3403389"/>
            <a:ext cx="611478" cy="528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D7100"/>
                </a:solidFill>
                <a:latin typeface="Helvetica"/>
              </a:rPr>
              <a:t>Triage Classifier Lambda</a:t>
            </a:r>
          </a:p>
        </p:txBody>
      </p:sp>
      <p:sp>
        <p:nvSpPr>
          <p:cNvPr id="38" name="Pentagon 37"/>
          <p:cNvSpPr/>
          <p:nvPr/>
        </p:nvSpPr>
        <p:spPr>
          <a:xfrm>
            <a:off x="5907254" y="4773355"/>
            <a:ext cx="1132474" cy="377491"/>
          </a:xfrm>
          <a:prstGeom prst="homePlate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000" b="1">
                <a:solidFill>
                  <a:srgbClr val="232F3E"/>
                </a:solidFill>
                <a:latin typeface="Helvetica"/>
              </a:rPr>
              <a:t>→ Diagram 2 grounding data path</a:t>
            </a:r>
          </a:p>
        </p:txBody>
      </p:sp>
      <p:sp>
        <p:nvSpPr>
          <p:cNvPr id="39" name="Pentagon 38"/>
          <p:cNvSpPr/>
          <p:nvPr/>
        </p:nvSpPr>
        <p:spPr>
          <a:xfrm>
            <a:off x="7794711" y="4773355"/>
            <a:ext cx="1132474" cy="377491"/>
          </a:xfrm>
          <a:prstGeom prst="homePlate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000" b="1">
                <a:solidFill>
                  <a:srgbClr val="232F3E"/>
                </a:solidFill>
                <a:latin typeface="Helvetica"/>
              </a:rPr>
              <a:t>→ Diagram 3 escalation / warm-transfer</a:t>
            </a:r>
          </a:p>
        </p:txBody>
      </p:sp>
      <p:sp>
        <p:nvSpPr>
          <p:cNvPr id="40" name="Oval 39"/>
          <p:cNvSpPr/>
          <p:nvPr/>
        </p:nvSpPr>
        <p:spPr>
          <a:xfrm>
            <a:off x="3359186" y="2602779"/>
            <a:ext cx="132122" cy="132122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41" name="Oval 40"/>
          <p:cNvSpPr/>
          <p:nvPr/>
        </p:nvSpPr>
        <p:spPr>
          <a:xfrm>
            <a:off x="3359186" y="3404949"/>
            <a:ext cx="132122" cy="132122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1'</a:t>
            </a:r>
          </a:p>
        </p:txBody>
      </p:sp>
      <p:sp>
        <p:nvSpPr>
          <p:cNvPr id="42" name="Oval 41"/>
          <p:cNvSpPr/>
          <p:nvPr/>
        </p:nvSpPr>
        <p:spPr>
          <a:xfrm>
            <a:off x="5529762" y="2036542"/>
            <a:ext cx="132122" cy="132122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5529762" y="2838711"/>
            <a:ext cx="132122" cy="132122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2'</a:t>
            </a:r>
          </a:p>
        </p:txBody>
      </p:sp>
      <p:sp>
        <p:nvSpPr>
          <p:cNvPr id="44" name="Oval 43"/>
          <p:cNvSpPr/>
          <p:nvPr/>
        </p:nvSpPr>
        <p:spPr>
          <a:xfrm>
            <a:off x="6709423" y="3263389"/>
            <a:ext cx="132122" cy="132122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6190372" y="4490237"/>
            <a:ext cx="132122" cy="132122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46" name="Oval 45"/>
          <p:cNvSpPr/>
          <p:nvPr/>
        </p:nvSpPr>
        <p:spPr>
          <a:xfrm>
            <a:off x="7771118" y="3758847"/>
            <a:ext cx="132122" cy="132122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5355" y="4490237"/>
            <a:ext cx="283118" cy="132122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6/7/8/9</a:t>
            </a:r>
          </a:p>
        </p:txBody>
      </p:sp>
      <p:sp>
        <p:nvSpPr>
          <p:cNvPr id="48" name="Oval 47"/>
          <p:cNvSpPr/>
          <p:nvPr/>
        </p:nvSpPr>
        <p:spPr>
          <a:xfrm>
            <a:off x="8266576" y="4490237"/>
            <a:ext cx="132122" cy="132122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10</a:t>
            </a:r>
          </a:p>
        </p:txBody>
      </p:sp>
      <p:sp>
        <p:nvSpPr>
          <p:cNvPr id="49" name="Oval 48"/>
          <p:cNvSpPr/>
          <p:nvPr/>
        </p:nvSpPr>
        <p:spPr>
          <a:xfrm>
            <a:off x="6025220" y="3263389"/>
            <a:ext cx="132122" cy="132122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29762" y="1847796"/>
            <a:ext cx="188745" cy="132122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13a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29762" y="3027457"/>
            <a:ext cx="188745" cy="132122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13b</a:t>
            </a:r>
          </a:p>
        </p:txBody>
      </p:sp>
      <p:sp>
        <p:nvSpPr>
          <p:cNvPr id="52" name="Oval 51"/>
          <p:cNvSpPr/>
          <p:nvPr/>
        </p:nvSpPr>
        <p:spPr>
          <a:xfrm>
            <a:off x="3359186" y="2390440"/>
            <a:ext cx="132122" cy="132122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228600"/>
            <a:ext cx="117348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Helvetica"/>
              </a:rPr>
              <a:t>CVX Data Foundation &amp;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750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545B64"/>
                </a:solidFill>
                <a:latin typeface="Helvetica"/>
              </a:rPr>
              <a:t>Where CVX gets the facts: live vehicle telemetry + governed fleet data grounding every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50000"/>
            <a:ext cx="11734800" cy="2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37600" y="1140000"/>
            <a:ext cx="3944000" cy="5568000"/>
          </a:xfrm>
          <a:prstGeom prst="roundRect">
            <a:avLst/>
          </a:prstGeom>
          <a:noFill/>
          <a:ln w="25400">
            <a:solidFill>
              <a:srgbClr val="232F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tIns="80000" wrap="square"/>
          <a:lstStyle/>
          <a:p>
            <a:pPr algn="l"/>
            <a:r>
              <a:rPr sz="1100" b="1">
                <a:solidFill>
                  <a:srgbClr val="232F3E"/>
                </a:solidFill>
                <a:latin typeface="Helvetica"/>
              </a:rPr>
              <a:t>CVX account / region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6400" y="1464800"/>
            <a:ext cx="3248000" cy="4176000"/>
          </a:xfrm>
          <a:prstGeom prst="roundRect">
            <a:avLst/>
          </a:prstGeom>
          <a:noFill/>
          <a:ln w="25400">
            <a:solidFill>
              <a:srgbClr val="232F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tIns="80000" wrap="square"/>
          <a:lstStyle/>
          <a:p>
            <a:pPr algn="l"/>
            <a:r>
              <a:rPr sz="1100" b="1">
                <a:solidFill>
                  <a:srgbClr val="232F3E"/>
                </a:solidFill>
                <a:latin typeface="Helvetica"/>
              </a:rPr>
              <a:t>ADP account / region — cross-account authorization boundary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800" y="3413600"/>
            <a:ext cx="3665600" cy="310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tIns="80000" wrap="square"/>
          <a:lstStyle/>
          <a:p>
            <a:pPr algn="l"/>
            <a:r>
              <a:rPr sz="1100" b="1">
                <a:solidFill>
                  <a:srgbClr val="666666"/>
                </a:solidFill>
                <a:latin typeface="Helvetica"/>
              </a:rPr>
              <a:t>CMS foundation — real-time operational 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90400" y="1805976"/>
            <a:ext cx="278400" cy="8188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577962" y="2160800"/>
            <a:ext cx="852421" cy="1531200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21667" y="2160800"/>
            <a:ext cx="2005822" cy="1067200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1200" y="2160800"/>
            <a:ext cx="0" cy="324800"/>
          </a:xfrm>
          <a:prstGeom prst="line">
            <a:avLst/>
          </a:prstGeom>
          <a:ln w="25400">
            <a:solidFill>
              <a:srgbClr val="545B6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11200" y="2160800"/>
            <a:ext cx="0" cy="324800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53600" y="1921661"/>
            <a:ext cx="1438400" cy="165969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493594" y="3135200"/>
            <a:ext cx="991424" cy="2552000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573527" y="3135200"/>
            <a:ext cx="860509" cy="1577600"/>
          </a:xfrm>
          <a:prstGeom prst="line">
            <a:avLst/>
          </a:prstGeom>
          <a:ln w="25400">
            <a:solidFill>
              <a:srgbClr val="545B6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2476800" y="1604000"/>
            <a:ext cx="1113600" cy="371200"/>
          </a:xfrm>
          <a:prstGeom prst="chevron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000" b="1">
                <a:solidFill>
                  <a:srgbClr val="232F3E"/>
                </a:solidFill>
                <a:latin typeface="Helvetica"/>
              </a:rPr>
              <a:t>← Diagram 1 per-turn from Supervisor [3]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68800" y="1511200"/>
            <a:ext cx="1484800" cy="64960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1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800" y="1651200"/>
            <a:ext cx="400000" cy="40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18800" y="1651200"/>
            <a:ext cx="7148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1A88D"/>
                </a:solidFill>
                <a:latin typeface="Helvetica"/>
              </a:rPr>
              <a:t>Bedrock AgentCore Runtime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68800" y="2485600"/>
            <a:ext cx="1484800" cy="64960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1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800" y="2625600"/>
            <a:ext cx="400000" cy="40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18800" y="2625600"/>
            <a:ext cx="7148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1A88D"/>
                </a:solidFill>
                <a:latin typeface="Helvetica"/>
              </a:rPr>
              <a:t>Bedrock AgentCore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16000" y="3692000"/>
            <a:ext cx="1484800" cy="788800"/>
          </a:xfrm>
          <a:prstGeom prst="roundRect">
            <a:avLst/>
          </a:prstGeom>
          <a:solidFill>
            <a:srgbClr val="F5E6F7"/>
          </a:solidFill>
          <a:ln w="25400">
            <a:solidFill>
              <a:srgbClr val="C92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00" y="3832000"/>
            <a:ext cx="433840" cy="4338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99840" y="3832000"/>
            <a:ext cx="680960" cy="43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25D1"/>
                </a:solidFill>
                <a:latin typeface="Helvetica"/>
              </a:rPr>
              <a:t>CMS Redis LKS (ElastiCache)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16000" y="4712800"/>
            <a:ext cx="1484800" cy="788800"/>
          </a:xfrm>
          <a:prstGeom prst="roundRect">
            <a:avLst/>
          </a:prstGeom>
          <a:solidFill>
            <a:srgbClr val="F5E6F7"/>
          </a:solidFill>
          <a:ln w="25400">
            <a:solidFill>
              <a:srgbClr val="C92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000" y="4852800"/>
            <a:ext cx="433840" cy="4338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99840" y="4852800"/>
            <a:ext cx="680960" cy="43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25D1"/>
                </a:solidFill>
                <a:latin typeface="Helvetica"/>
              </a:rPr>
              <a:t>CMS DynamoDB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16000" y="5687200"/>
            <a:ext cx="1484800" cy="696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000" y="5827200"/>
            <a:ext cx="400000" cy="40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66000" y="5827200"/>
            <a:ext cx="7148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D7100"/>
                </a:solidFill>
                <a:latin typeface="Helvetica"/>
              </a:rPr>
              <a:t>CMS Recalls Integration Lambda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92000" y="1836000"/>
            <a:ext cx="2876800" cy="83520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1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000" y="1976000"/>
            <a:ext cx="459360" cy="4593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501360" y="1976000"/>
            <a:ext cx="2047440" cy="459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1A88D"/>
                </a:solidFill>
                <a:latin typeface="Helvetica"/>
              </a:rPr>
              <a:t>Bedrock Knowledge 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92000" y="3228000"/>
            <a:ext cx="2876800" cy="1067200"/>
          </a:xfrm>
          <a:prstGeom prst="roundRect">
            <a:avLst/>
          </a:prstGeom>
          <a:solidFill>
            <a:srgbClr val="EDE7F6"/>
          </a:solidFill>
          <a:ln w="25400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000" y="3368000"/>
            <a:ext cx="586960" cy="5869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28960" y="3368000"/>
            <a:ext cx="1919840" cy="586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C4FFF"/>
                </a:solidFill>
                <a:latin typeface="Helvetica"/>
              </a:rPr>
              <a:t>Centralized Data Repository</a:t>
            </a:r>
          </a:p>
        </p:txBody>
      </p:sp>
      <p:sp>
        <p:nvSpPr>
          <p:cNvPr id="38" name="Oval 37"/>
          <p:cNvSpPr/>
          <p:nvPr/>
        </p:nvSpPr>
        <p:spPr>
          <a:xfrm>
            <a:off x="3636800" y="1789600"/>
            <a:ext cx="129920" cy="129920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08000" y="2810400"/>
            <a:ext cx="185600" cy="129920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4a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49600" y="1882400"/>
            <a:ext cx="185600" cy="129920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4b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32800" y="2137600"/>
            <a:ext cx="185600" cy="129920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4c</a:t>
            </a:r>
          </a:p>
        </p:txBody>
      </p:sp>
      <p:sp>
        <p:nvSpPr>
          <p:cNvPr id="42" name="Oval 41"/>
          <p:cNvSpPr/>
          <p:nvPr/>
        </p:nvSpPr>
        <p:spPr>
          <a:xfrm>
            <a:off x="4727200" y="2137600"/>
            <a:ext cx="129920" cy="129920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6</a:t>
            </a:r>
          </a:p>
        </p:txBody>
      </p:sp>
      <p:sp>
        <p:nvSpPr>
          <p:cNvPr id="43" name="Oval 42"/>
          <p:cNvSpPr/>
          <p:nvPr/>
        </p:nvSpPr>
        <p:spPr>
          <a:xfrm>
            <a:off x="6049600" y="2044800"/>
            <a:ext cx="129920" cy="129920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7</a:t>
            </a:r>
          </a:p>
        </p:txBody>
      </p:sp>
      <p:sp>
        <p:nvSpPr>
          <p:cNvPr id="44" name="Oval 43"/>
          <p:cNvSpPr/>
          <p:nvPr/>
        </p:nvSpPr>
        <p:spPr>
          <a:xfrm>
            <a:off x="4008000" y="4736000"/>
            <a:ext cx="129920" cy="129920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8</a:t>
            </a:r>
          </a:p>
        </p:txBody>
      </p:sp>
      <p:sp>
        <p:nvSpPr>
          <p:cNvPr id="45" name="Oval 44"/>
          <p:cNvSpPr/>
          <p:nvPr/>
        </p:nvSpPr>
        <p:spPr>
          <a:xfrm>
            <a:off x="4727200" y="3924000"/>
            <a:ext cx="129920" cy="129920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228600"/>
            <a:ext cx="117348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Helvetica"/>
              </a:rPr>
              <a:t>CVX Escalation &amp; Human Hand-off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750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545B64"/>
                </a:solidFill>
                <a:latin typeface="Helvetica"/>
              </a:rPr>
              <a:t>When a safety issue or customer ask needs a real person — not just the AI — to take 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50000"/>
            <a:ext cx="11734800" cy="2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50261" y="1140000"/>
            <a:ext cx="8291478" cy="5568000"/>
          </a:xfrm>
          <a:prstGeom prst="roundRect">
            <a:avLst/>
          </a:prstGeom>
          <a:noFill/>
          <a:ln w="25400">
            <a:solidFill>
              <a:srgbClr val="232F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tIns="80000" wrap="square"/>
          <a:lstStyle/>
          <a:p>
            <a:pPr algn="l"/>
            <a:r>
              <a:rPr sz="1100" b="1">
                <a:solidFill>
                  <a:srgbClr val="232F3E"/>
                </a:solidFill>
                <a:latin typeface="Helvetica"/>
              </a:rPr>
              <a:t>CVX account / region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26434" y="2257970"/>
            <a:ext cx="423653" cy="29420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157913" y="2774086"/>
            <a:ext cx="0" cy="1270957"/>
          </a:xfrm>
          <a:prstGeom prst="line">
            <a:avLst/>
          </a:prstGeom>
          <a:ln w="25400">
            <a:solidFill>
              <a:srgbClr val="545B6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65739" y="2481564"/>
            <a:ext cx="726261" cy="104904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09326" y="3560868"/>
            <a:ext cx="391064" cy="605218"/>
          </a:xfrm>
          <a:prstGeom prst="line">
            <a:avLst/>
          </a:prstGeom>
          <a:ln w="2540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evron 9"/>
          <p:cNvSpPr/>
          <p:nvPr/>
        </p:nvSpPr>
        <p:spPr>
          <a:xfrm>
            <a:off x="2131826" y="1866260"/>
            <a:ext cx="1694608" cy="665739"/>
          </a:xfrm>
          <a:prstGeom prst="chevron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000" b="1">
                <a:solidFill>
                  <a:srgbClr val="232F3E"/>
                </a:solidFill>
                <a:latin typeface="Helvetica"/>
              </a:rPr>
              <a:t>← Diagram 1 [5] triage() returns P0/P1/P2 or explicit customer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0087" y="1926782"/>
            <a:ext cx="1815652" cy="847304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1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087" y="2066782"/>
            <a:ext cx="466017" cy="4660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66104" y="2066782"/>
            <a:ext cx="979635" cy="466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1A88D"/>
                </a:solidFill>
                <a:latin typeface="Helvetica"/>
              </a:rPr>
              <a:t>Bedrock AgentCore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0087" y="4045043"/>
            <a:ext cx="1815652" cy="1089391"/>
          </a:xfrm>
          <a:prstGeom prst="roundRect">
            <a:avLst/>
          </a:prstGeom>
          <a:solidFill>
            <a:srgbClr val="F5E6F7"/>
          </a:solidFill>
          <a:ln w="25400">
            <a:solidFill>
              <a:srgbClr val="C92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087" y="4185043"/>
            <a:ext cx="599165" cy="5991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99252" y="4185043"/>
            <a:ext cx="846487" cy="599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25D1"/>
                </a:solidFill>
                <a:latin typeface="Helvetica"/>
              </a:rPr>
              <a:t>CVX operational DynamoDB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92000" y="1926782"/>
            <a:ext cx="2178782" cy="1634086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000" y="2066782"/>
            <a:ext cx="762573" cy="7625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04573" y="2066782"/>
            <a:ext cx="1046209" cy="762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344C"/>
                </a:solidFill>
                <a:latin typeface="Helvetica"/>
              </a:rPr>
              <a:t>Amazon Connect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7130" y="4166086"/>
            <a:ext cx="1210434" cy="1089391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704" y="4386086"/>
            <a:ext cx="381286" cy="381286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7130" y="4895477"/>
            <a:ext cx="1210434" cy="3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Helvetica"/>
              </a:rPr>
              <a:t>Tier-2 Human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1652" y="2713565"/>
            <a:ext cx="242086" cy="169460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10a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4695" y="2199130"/>
            <a:ext cx="242086" cy="169460"/>
          </a:xfrm>
          <a:prstGeom prst="roundRect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10b</a:t>
            </a:r>
          </a:p>
        </p:txBody>
      </p:sp>
      <p:sp>
        <p:nvSpPr>
          <p:cNvPr id="25" name="Oval 24"/>
          <p:cNvSpPr/>
          <p:nvPr/>
        </p:nvSpPr>
        <p:spPr>
          <a:xfrm>
            <a:off x="8910261" y="3742434"/>
            <a:ext cx="169460" cy="169460"/>
          </a:xfrm>
          <a:prstGeom prst="ellipse">
            <a:avLst/>
          </a:prstGeom>
          <a:solidFill>
            <a:srgbClr val="00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